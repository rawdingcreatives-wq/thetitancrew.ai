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0D162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5669280" y="457200"/>
            <a:ext cx="3200400" cy="32004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502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Titan</a:t>
            </a:r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2344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Meet Your</a:t>
            </a:r>
            <a:endParaRPr lang="en-US" sz="5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Crew.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457200" y="21031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58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Crew.</a:t>
            </a:r>
            <a:endParaRPr lang="en-US" sz="5800" dirty="0"/>
          </a:p>
        </p:txBody>
      </p:sp>
      <p:sp>
        <p:nvSpPr>
          <p:cNvPr id="8" name="Text 5"/>
          <p:cNvSpPr/>
          <p:nvPr/>
        </p:nvSpPr>
        <p:spPr>
          <a:xfrm>
            <a:off x="457200" y="3383280"/>
            <a:ext cx="5943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The autonomous back-office for trade contractors.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</a:rPr>
              <a:t>Scheduling · Invoicing · Parts · Customer Comms · Growth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thetitancrewai.vercel.app  ·  Deployed in 5 minutes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0D1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256032" cy="2560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Titan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Crew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25603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</a:rPr>
              <a:t>THE PROBLEM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You're great at the trade.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back-office is killing you.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457200" y="1920240"/>
            <a:ext cx="1965960" cy="2606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20240"/>
            <a:ext cx="196596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103120"/>
            <a:ext cx="347472" cy="34747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66928" y="25146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Scheduling chaos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2926080"/>
            <a:ext cx="1764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Calls, texts, missed bookings.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Your calendar is a disaster.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633472" y="1920240"/>
            <a:ext cx="1965960" cy="2606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633472" y="1920240"/>
            <a:ext cx="196596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103120"/>
            <a:ext cx="347472" cy="3474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2743200" y="25146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Missed follow-ups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2743200" y="2926080"/>
            <a:ext cx="1764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50% of leads never hear back.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That's pure revenue walking out.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809744" y="1920240"/>
            <a:ext cx="1965960" cy="2606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4809744" y="1920240"/>
            <a:ext cx="196596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2624" y="2103120"/>
            <a:ext cx="347472" cy="3474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919472" y="25146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Late invoices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4919472" y="2926080"/>
            <a:ext cx="1764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Jobs complete, invoices sit.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Cash flow suffers every month.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6986016" y="1920240"/>
            <a:ext cx="1965960" cy="26060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986016" y="1920240"/>
            <a:ext cx="1965960" cy="4572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68896" y="2103120"/>
            <a:ext cx="347472" cy="3474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095744" y="251460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Parts surprises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095744" y="2926080"/>
            <a:ext cx="1764792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Run out mid-job. Emergency orders.</a:t>
            </a:r>
            <a:endParaRPr lang="en-US" sz="11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100" dirty="0">
                <a:solidFill>
                  <a:srgbClr val="94A3B8"/>
                </a:solidFill>
              </a:rPr>
              <a:t>Customers wait. You lose money.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Trade contractors spend 15–20 hours/week on admin that could be automated.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0D1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256032" cy="2560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Titan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Crew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256032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</a:rPr>
              <a:t>THE SOLUTION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94360"/>
            <a:ext cx="4114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 AI specialists.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Running 24/7.</a:t>
            </a:r>
            <a:endParaRPr lang="en-US" sz="3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Deployed in 5 minutes.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651760"/>
            <a:ext cx="40233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1300" dirty="0">
                <a:solidFill>
                  <a:srgbClr val="94A3B8"/>
                </a:solidFill>
              </a:rPr>
              <a:t>TitanCrew is a full AI back-office team — not a chatbot, not a widget. Six specialized agents handle every non-technical task while you focus on the actual work.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886200"/>
            <a:ext cx="3840480" cy="0"/>
          </a:xfrm>
          <a:prstGeom prst="rect">
            <a:avLst/>
          </a:prstGeom>
          <a:solidFill>
            <a:srgbClr val="0D1626"/>
          </a:solidFill>
          <a:ln w="12700">
            <a:solidFill>
              <a:srgbClr val="0D1626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0"/>
            <a:ext cx="201168" cy="20116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749808" y="3822192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No code needed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3895344"/>
            <a:ext cx="3840480" cy="0"/>
          </a:xfrm>
          <a:prstGeom prst="rect">
            <a:avLst/>
          </a:prstGeom>
          <a:solidFill>
            <a:srgbClr val="0D1626"/>
          </a:solidFill>
          <a:ln w="12700">
            <a:solidFill>
              <a:srgbClr val="0D1626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187952"/>
            <a:ext cx="201168" cy="20116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9808" y="4169664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Works with your existing tools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57200" y="3904488"/>
            <a:ext cx="3840480" cy="0"/>
          </a:xfrm>
          <a:prstGeom prst="rect">
            <a:avLst/>
          </a:prstGeom>
          <a:solidFill>
            <a:srgbClr val="0D1626"/>
          </a:solidFill>
          <a:ln w="12700">
            <a:solidFill>
              <a:srgbClr val="0D1626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535424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49808" y="4517136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Pays for itself in week 1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029200" y="640080"/>
            <a:ext cx="178308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029200" y="640080"/>
            <a:ext cx="64008" cy="13258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792" y="8686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157216" y="137160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Foreman AI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995160" y="640080"/>
            <a:ext cx="178308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995160" y="640080"/>
            <a:ext cx="64008" cy="13258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59752" y="86868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123176" y="1371600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Scheduler AI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5029200" y="2121408"/>
            <a:ext cx="178308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7" name="Shape 20"/>
          <p:cNvSpPr/>
          <p:nvPr/>
        </p:nvSpPr>
        <p:spPr>
          <a:xfrm>
            <a:off x="5029200" y="2121408"/>
            <a:ext cx="64008" cy="13258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792" y="2350008"/>
            <a:ext cx="411480" cy="41148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157216" y="2852928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Customer AI</a:t>
            </a:r>
            <a:endParaRPr lang="en-US" sz="1150" dirty="0"/>
          </a:p>
        </p:txBody>
      </p:sp>
      <p:sp>
        <p:nvSpPr>
          <p:cNvPr id="30" name="Shape 22"/>
          <p:cNvSpPr/>
          <p:nvPr/>
        </p:nvSpPr>
        <p:spPr>
          <a:xfrm>
            <a:off x="6995160" y="2121408"/>
            <a:ext cx="178308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1" name="Shape 23"/>
          <p:cNvSpPr/>
          <p:nvPr/>
        </p:nvSpPr>
        <p:spPr>
          <a:xfrm>
            <a:off x="6995160" y="2121408"/>
            <a:ext cx="64008" cy="13258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9752" y="2350008"/>
            <a:ext cx="411480" cy="41148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7123176" y="2852928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Finance AI</a:t>
            </a:r>
            <a:endParaRPr lang="en-US" sz="1150" dirty="0"/>
          </a:p>
        </p:txBody>
      </p:sp>
      <p:sp>
        <p:nvSpPr>
          <p:cNvPr id="34" name="Shape 25"/>
          <p:cNvSpPr/>
          <p:nvPr/>
        </p:nvSpPr>
        <p:spPr>
          <a:xfrm>
            <a:off x="5029200" y="3602736"/>
            <a:ext cx="178308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5029200" y="3602736"/>
            <a:ext cx="64008" cy="13258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93792" y="3831336"/>
            <a:ext cx="411480" cy="4114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157216" y="433425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Parts AI</a:t>
            </a:r>
            <a:endParaRPr lang="en-US" sz="1150" dirty="0"/>
          </a:p>
        </p:txBody>
      </p:sp>
      <p:sp>
        <p:nvSpPr>
          <p:cNvPr id="38" name="Shape 28"/>
          <p:cNvSpPr/>
          <p:nvPr/>
        </p:nvSpPr>
        <p:spPr>
          <a:xfrm>
            <a:off x="6995160" y="3602736"/>
            <a:ext cx="1783080" cy="132588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9" name="Shape 29"/>
          <p:cNvSpPr/>
          <p:nvPr/>
        </p:nvSpPr>
        <p:spPr>
          <a:xfrm>
            <a:off x="6995160" y="3602736"/>
            <a:ext cx="64008" cy="132588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9752" y="3831336"/>
            <a:ext cx="411480" cy="411480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7123176" y="4334256"/>
            <a:ext cx="16184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Growth AI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0D1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256032" cy="2560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Titan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Crew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</a:rPr>
              <a:t>THE CREW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6-person AI team.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320040" y="1188720"/>
            <a:ext cx="2697480" cy="1572768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188720"/>
            <a:ext cx="269748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4632" y="1371600"/>
            <a:ext cx="438912" cy="438912"/>
          </a:xfrm>
          <a:prstGeom prst="OVAL">
            <a:avLst/>
          </a:prstGeom>
          <a:solidFill>
            <a:srgbClr val="1E3A5F"/>
          </a:solidFill>
          <a:ln w="12700">
            <a:solidFill>
              <a:srgbClr val="243352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1208" y="1408176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05840" y="1389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Foreman AI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014984" y="16916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</a:rPr>
              <a:t>AI AGENT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457200" y="199339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Oversees the crew. Sends your 6am daily briefing with revenue, jobs, and alerts.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200400" y="1188720"/>
            <a:ext cx="2697480" cy="1572768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00400" y="1188720"/>
            <a:ext cx="269748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64992" y="1371600"/>
            <a:ext cx="438912" cy="438912"/>
          </a:xfrm>
          <a:prstGeom prst="OVAL">
            <a:avLst/>
          </a:prstGeom>
          <a:solidFill>
            <a:srgbClr val="1E3A5F"/>
          </a:solidFill>
          <a:ln w="12700">
            <a:solidFill>
              <a:srgbClr val="243352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408176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86200" y="1389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Scheduler AI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895344" y="16916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</a:rPr>
              <a:t>AI AGENT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3337560" y="199339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Books jobs 24/7 from calls, texts, and web leads. Keeps your calendar full.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080760" y="1188720"/>
            <a:ext cx="2697480" cy="1572768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080760" y="1188720"/>
            <a:ext cx="269748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245352" y="1371600"/>
            <a:ext cx="438912" cy="438912"/>
          </a:xfrm>
          <a:prstGeom prst="OVAL">
            <a:avLst/>
          </a:prstGeom>
          <a:solidFill>
            <a:srgbClr val="1E3A5F"/>
          </a:solidFill>
          <a:ln w="12700">
            <a:solidFill>
              <a:srgbClr val="243352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408176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6766560" y="1389888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Customer AI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775704" y="16916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</a:rPr>
              <a:t>AI AGENT</a:t>
            </a:r>
            <a:endParaRPr lang="en-US" sz="800" dirty="0"/>
          </a:p>
        </p:txBody>
      </p:sp>
      <p:sp>
        <p:nvSpPr>
          <p:cNvPr id="28" name="Text 23"/>
          <p:cNvSpPr/>
          <p:nvPr/>
        </p:nvSpPr>
        <p:spPr>
          <a:xfrm>
            <a:off x="6217920" y="1993392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Sends confirmations, reminders, follow-ups, and requests 5-star reviews automatically.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320040" y="2907792"/>
            <a:ext cx="2697480" cy="1572768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0" name="Shape 25"/>
          <p:cNvSpPr/>
          <p:nvPr/>
        </p:nvSpPr>
        <p:spPr>
          <a:xfrm>
            <a:off x="320040" y="2907792"/>
            <a:ext cx="269748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84632" y="3090672"/>
            <a:ext cx="438912" cy="438912"/>
          </a:xfrm>
          <a:prstGeom prst="OVAL">
            <a:avLst/>
          </a:prstGeom>
          <a:solidFill>
            <a:srgbClr val="1E3A5F"/>
          </a:solidFill>
          <a:ln w="12700">
            <a:solidFill>
              <a:srgbClr val="243352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208" y="3127248"/>
            <a:ext cx="365760" cy="36576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0584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Finance AI</a:t>
            </a:r>
            <a:endParaRPr lang="en-US" sz="1300" dirty="0"/>
          </a:p>
        </p:txBody>
      </p:sp>
      <p:sp>
        <p:nvSpPr>
          <p:cNvPr id="34" name="Text 28"/>
          <p:cNvSpPr/>
          <p:nvPr/>
        </p:nvSpPr>
        <p:spPr>
          <a:xfrm>
            <a:off x="1014984" y="3410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</a:rPr>
              <a:t>AI AGENT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457200" y="3712464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Sends invoices the moment a job closes. Follows up on unpaid. Syncs to QuickBooks.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3200400" y="2907792"/>
            <a:ext cx="2697480" cy="1572768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37" name="Shape 31"/>
          <p:cNvSpPr/>
          <p:nvPr/>
        </p:nvSpPr>
        <p:spPr>
          <a:xfrm>
            <a:off x="3200400" y="2907792"/>
            <a:ext cx="269748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3364992" y="3090672"/>
            <a:ext cx="438912" cy="438912"/>
          </a:xfrm>
          <a:prstGeom prst="OVAL">
            <a:avLst/>
          </a:prstGeom>
          <a:solidFill>
            <a:srgbClr val="1E3A5F"/>
          </a:solidFill>
          <a:ln w="12700">
            <a:solidFill>
              <a:srgbClr val="243352"/>
            </a:solidFill>
            <a:prstDash val="solid"/>
          </a:ln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127248"/>
            <a:ext cx="365760" cy="3657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388620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Parts AI</a:t>
            </a:r>
            <a:endParaRPr lang="en-US" sz="1300" dirty="0"/>
          </a:p>
        </p:txBody>
      </p:sp>
      <p:sp>
        <p:nvSpPr>
          <p:cNvPr id="41" name="Text 34"/>
          <p:cNvSpPr/>
          <p:nvPr/>
        </p:nvSpPr>
        <p:spPr>
          <a:xfrm>
            <a:off x="3895344" y="3410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</a:rPr>
              <a:t>AI AGENT</a:t>
            </a:r>
            <a:endParaRPr lang="en-US" sz="800" dirty="0"/>
          </a:p>
        </p:txBody>
      </p:sp>
      <p:sp>
        <p:nvSpPr>
          <p:cNvPr id="42" name="Text 35"/>
          <p:cNvSpPr/>
          <p:nvPr/>
        </p:nvSpPr>
        <p:spPr>
          <a:xfrm>
            <a:off x="3337560" y="3712464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Tracks your inventory, predicts usage from jobs, and reorders before you run out.</a:t>
            </a:r>
            <a:endParaRPr lang="en-US" sz="1050" dirty="0"/>
          </a:p>
        </p:txBody>
      </p:sp>
      <p:sp>
        <p:nvSpPr>
          <p:cNvPr id="43" name="Shape 36"/>
          <p:cNvSpPr/>
          <p:nvPr/>
        </p:nvSpPr>
        <p:spPr>
          <a:xfrm>
            <a:off x="6080760" y="2907792"/>
            <a:ext cx="2697480" cy="1572768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44" name="Shape 37"/>
          <p:cNvSpPr/>
          <p:nvPr/>
        </p:nvSpPr>
        <p:spPr>
          <a:xfrm>
            <a:off x="6080760" y="2907792"/>
            <a:ext cx="2697480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6245352" y="3090672"/>
            <a:ext cx="438912" cy="438912"/>
          </a:xfrm>
          <a:prstGeom prst="OVAL">
            <a:avLst/>
          </a:prstGeom>
          <a:solidFill>
            <a:srgbClr val="1E3A5F"/>
          </a:solidFill>
          <a:ln w="12700">
            <a:solidFill>
              <a:srgbClr val="243352"/>
            </a:solidFill>
            <a:prstDash val="solid"/>
          </a:ln>
        </p:spPr>
      </p:sp>
      <p:pic>
        <p:nvPicPr>
          <p:cNvPr id="4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1928" y="3127248"/>
            <a:ext cx="365760" cy="36576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6766560" y="310896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Growth AI</a:t>
            </a:r>
            <a:endParaRPr lang="en-US" sz="1300" dirty="0"/>
          </a:p>
        </p:txBody>
      </p:sp>
      <p:sp>
        <p:nvSpPr>
          <p:cNvPr id="48" name="Text 40"/>
          <p:cNvSpPr/>
          <p:nvPr/>
        </p:nvSpPr>
        <p:spPr>
          <a:xfrm>
            <a:off x="6775704" y="341071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FF6B00"/>
                </a:solidFill>
              </a:rPr>
              <a:t>AI AGENT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6217920" y="3712464"/>
            <a:ext cx="244144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Posts to Facebook, shares case studies, runs targeted local ads. Fills the pipeline.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0D1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256032" cy="2560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Titan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Crew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</a:rPr>
              <a:t>HOW IT WORKS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From sign-up to AI crew running in under 5 minutes.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1664208" y="2212848"/>
            <a:ext cx="5669280" cy="54864"/>
          </a:xfrm>
          <a:prstGeom prst="rect">
            <a:avLst/>
          </a:prstGeom>
          <a:solidFill>
            <a:srgbClr val="243352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234440"/>
            <a:ext cx="2606040" cy="342900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348740" y="1508760"/>
            <a:ext cx="822960" cy="822960"/>
          </a:xfrm>
          <a:prstGeom prst="OVAL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8740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01</a:t>
            </a:r>
            <a:endParaRPr lang="en-US" sz="2000" dirty="0"/>
          </a:p>
        </p:txBody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4188" y="2514600"/>
            <a:ext cx="512064" cy="512064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" y="315468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Sign Up &amp; Tell Us About Your Business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94360" y="3867912"/>
            <a:ext cx="235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Answer 9 quick questions: your trade, team size, average job value, and which tools you already use. Takes under 3 minutes.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10128" y="1234440"/>
            <a:ext cx="2606040" cy="342900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201668" y="1508760"/>
            <a:ext cx="822960" cy="822960"/>
          </a:xfrm>
          <a:prstGeom prst="OVAL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201668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02</a:t>
            </a:r>
            <a:endParaRPr lang="en-US" sz="20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116" y="2514600"/>
            <a:ext cx="512064" cy="51206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447288" y="315468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Connect Your Tools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447288" y="3867912"/>
            <a:ext cx="235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Link Google Calendar, QuickBooks, and your phone number. OAuth-based — no passwords stored. Each integration takes 30 seconds.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163056" y="1234440"/>
            <a:ext cx="2606040" cy="342900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054596" y="1508760"/>
            <a:ext cx="822960" cy="822960"/>
          </a:xfrm>
          <a:prstGeom prst="OVAL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7054596" y="15087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03</a:t>
            </a:r>
            <a:endParaRPr lang="en-US" sz="20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044" y="2514600"/>
            <a:ext cx="512064" cy="512064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00216" y="3154680"/>
            <a:ext cx="23500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FFFF"/>
                </a:solidFill>
              </a:rPr>
              <a:t>Deploy Your Crew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6300216" y="3867912"/>
            <a:ext cx="23500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2000"/>
              </a:lnSpc>
              <a:buNone/>
            </a:pPr>
            <a:r>
              <a:rPr lang="en-US" sz="1050" dirty="0">
                <a:solidFill>
                  <a:srgbClr val="94A3B8"/>
                </a:solidFill>
              </a:rPr>
              <a:t>Hit Deploy. Your 6 AI agents activate immediately. The Foreman AI sends your first briefing the next morning at 6am.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0D1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256032" cy="2560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Titan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Crew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</a:rPr>
              <a:t>THE ROI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 pays for itself — in the first week.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57200" y="1143000"/>
            <a:ext cx="8229600" cy="50292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14300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</a:rPr>
              <a:t>Example: 2 techs · 8 jobs/week · $350 avg job value · Basic Plan ($399/mo)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1993392" cy="2240280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1874520"/>
            <a:ext cx="1993392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039112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+2</a:t>
            </a:r>
            <a:endParaRPr lang="en-US" sz="4400" dirty="0"/>
          </a:p>
        </p:txBody>
      </p:sp>
      <p:sp>
        <p:nvSpPr>
          <p:cNvPr id="13" name="Text 11"/>
          <p:cNvSpPr/>
          <p:nvPr/>
        </p:nvSpPr>
        <p:spPr>
          <a:xfrm>
            <a:off x="566928" y="2880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 jobs/week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928" y="329184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booked while you're on-site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633472" y="1874520"/>
            <a:ext cx="1993392" cy="2240280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33472" y="1874520"/>
            <a:ext cx="199339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0" y="2039112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$36k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743200" y="2880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extra revenue/yr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2743200" y="329184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from AI-booked jobs alone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9744" y="1874520"/>
            <a:ext cx="1993392" cy="2240280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09744" y="1874520"/>
            <a:ext cx="1993392" cy="54864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19472" y="2039112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762%</a:t>
            </a:r>
            <a:endParaRPr lang="en-US" sz="4400" dirty="0"/>
          </a:p>
        </p:txBody>
      </p:sp>
      <p:sp>
        <p:nvSpPr>
          <p:cNvPr id="23" name="Text 21"/>
          <p:cNvSpPr/>
          <p:nvPr/>
        </p:nvSpPr>
        <p:spPr>
          <a:xfrm>
            <a:off x="4919472" y="2880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ROI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19472" y="329184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vs. $399/mo plan cost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86016" y="1874520"/>
            <a:ext cx="1993392" cy="2240280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86016" y="1874520"/>
            <a:ext cx="1993392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95744" y="2039112"/>
            <a:ext cx="18105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 hrs</a:t>
            </a:r>
            <a:endParaRPr lang="en-US" sz="4400" dirty="0"/>
          </a:p>
        </p:txBody>
      </p:sp>
      <p:sp>
        <p:nvSpPr>
          <p:cNvPr id="28" name="Text 26"/>
          <p:cNvSpPr/>
          <p:nvPr/>
        </p:nvSpPr>
        <p:spPr>
          <a:xfrm>
            <a:off x="7095744" y="2880360"/>
            <a:ext cx="18105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saved per week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095744" y="329184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94A3B8"/>
                </a:solidFill>
              </a:rPr>
              <a:t>on admin, invoicing &amp; follow-ups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" y="4370832"/>
            <a:ext cx="8229600" cy="530352"/>
          </a:xfrm>
          <a:prstGeom prst="rect">
            <a:avLst/>
          </a:prstGeom>
          <a:solidFill>
            <a:srgbClr val="1A3A1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4370832"/>
            <a:ext cx="8046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⚡  Most customers recoup the full annual cost within their first month of jobs booked by AI.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0D1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256032" cy="2560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Titan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Crew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</a:rPr>
              <a:t>MISSION CONTROL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7315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Everything you need. One screen.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411480" y="1316736"/>
            <a:ext cx="384048" cy="384048"/>
          </a:xfrm>
          <a:prstGeom prst="OVAL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" y="1335024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298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Live Job Pipeline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14400" y="155448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Kanban board: every job from lead to paid. Drag to update status.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11480" y="2066544"/>
            <a:ext cx="384048" cy="384048"/>
          </a:xfrm>
          <a:prstGeom prst="OVAL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08483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914400" y="204825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Revenue Tracker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914400" y="230428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See exactly which jobs your crew booked. Real attribution, no guessing.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11480" y="2816352"/>
            <a:ext cx="384048" cy="384048"/>
          </a:xfrm>
          <a:prstGeom prst="OVAL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2834640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14400" y="27980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Schedule &amp; Calendar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914400" y="3054096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Upcoming jobs by date. Google Calendar sync. Crew routes.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11480" y="3566160"/>
            <a:ext cx="384048" cy="384048"/>
          </a:xfrm>
          <a:prstGeom prst="OVAL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584448"/>
            <a:ext cx="329184" cy="32918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354787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Inventory &amp; Parts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914400" y="3803904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Low-stock alerts. Auto-reorder triggers. Never run out mid-job.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11480" y="4315968"/>
            <a:ext cx="384048" cy="384048"/>
          </a:xfrm>
          <a:prstGeom prst="OVAL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4334256"/>
            <a:ext cx="329184" cy="32918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4400" y="4297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Finance &amp; Analytics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914400" y="455371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Revenue KPIs, outstanding invoices, 30-day trends. QuickBooks sync.</a:t>
            </a:r>
            <a:endParaRPr lang="en-US" sz="1000" dirty="0"/>
          </a:p>
        </p:txBody>
      </p:sp>
      <p:sp>
        <p:nvSpPr>
          <p:cNvPr id="28" name="Shape 21"/>
          <p:cNvSpPr/>
          <p:nvPr/>
        </p:nvSpPr>
        <p:spPr>
          <a:xfrm>
            <a:off x="4663440" y="1097280"/>
            <a:ext cx="4114800" cy="3657600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254000" dist="762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663440" y="1097280"/>
            <a:ext cx="4114800" cy="29260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4773168" y="1170432"/>
            <a:ext cx="128016" cy="128016"/>
          </a:xfrm>
          <a:prstGeom prst="OVAL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4956048" y="1170432"/>
            <a:ext cx="128016" cy="128016"/>
          </a:xfrm>
          <a:prstGeom prst="OVAL">
            <a:avLst/>
          </a:prstGeom>
          <a:solidFill>
            <a:srgbClr val="FFBD2E"/>
          </a:solidFill>
          <a:ln w="12700">
            <a:solidFill>
              <a:srgbClr val="FFBD2E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5138928" y="1170432"/>
            <a:ext cx="128016" cy="128016"/>
          </a:xfrm>
          <a:prstGeom prst="OVAL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5349240" y="1143000"/>
            <a:ext cx="2377440" cy="201168"/>
          </a:xfrm>
          <a:prstGeom prst="rect">
            <a:avLst/>
          </a:prstGeom>
          <a:solidFill>
            <a:srgbClr val="0F1C33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4" name="Text 27"/>
          <p:cNvSpPr/>
          <p:nvPr/>
        </p:nvSpPr>
        <p:spPr>
          <a:xfrm>
            <a:off x="5367528" y="1133856"/>
            <a:ext cx="2340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</a:rPr>
              <a:t>thetitancrewai.vercel.app</a:t>
            </a:r>
            <a:endParaRPr lang="en-US" sz="800" dirty="0"/>
          </a:p>
        </p:txBody>
      </p:sp>
      <p:sp>
        <p:nvSpPr>
          <p:cNvPr id="35" name="Shape 28"/>
          <p:cNvSpPr/>
          <p:nvPr/>
        </p:nvSpPr>
        <p:spPr>
          <a:xfrm>
            <a:off x="4663440" y="1389888"/>
            <a:ext cx="777240" cy="3364992"/>
          </a:xfrm>
          <a:prstGeom prst="rect">
            <a:avLst/>
          </a:prstGeom>
          <a:solidFill>
            <a:srgbClr val="131F36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6" name="Shape 29"/>
          <p:cNvSpPr/>
          <p:nvPr/>
        </p:nvSpPr>
        <p:spPr>
          <a:xfrm>
            <a:off x="4663440" y="1481328"/>
            <a:ext cx="777240" cy="36576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690872" y="150876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FFFFFF"/>
                </a:solidFill>
              </a:rPr>
              <a:t>Dashboard</a:t>
            </a:r>
            <a:endParaRPr lang="en-US" sz="700" dirty="0"/>
          </a:p>
        </p:txBody>
      </p:sp>
      <p:sp>
        <p:nvSpPr>
          <p:cNvPr id="38" name="Text 31"/>
          <p:cNvSpPr/>
          <p:nvPr/>
        </p:nvSpPr>
        <p:spPr>
          <a:xfrm>
            <a:off x="4690872" y="198424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Jobs</a:t>
            </a:r>
            <a:endParaRPr lang="en-US" sz="700" dirty="0"/>
          </a:p>
        </p:txBody>
      </p:sp>
      <p:sp>
        <p:nvSpPr>
          <p:cNvPr id="39" name="Text 32"/>
          <p:cNvSpPr/>
          <p:nvPr/>
        </p:nvSpPr>
        <p:spPr>
          <a:xfrm>
            <a:off x="4690872" y="245973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AI Crew</a:t>
            </a:r>
            <a:endParaRPr lang="en-US" sz="700" dirty="0"/>
          </a:p>
        </p:txBody>
      </p:sp>
      <p:sp>
        <p:nvSpPr>
          <p:cNvPr id="40" name="Text 33"/>
          <p:cNvSpPr/>
          <p:nvPr/>
        </p:nvSpPr>
        <p:spPr>
          <a:xfrm>
            <a:off x="4690872" y="293522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Analytics</a:t>
            </a:r>
            <a:endParaRPr lang="en-US" sz="700" dirty="0"/>
          </a:p>
        </p:txBody>
      </p:sp>
      <p:sp>
        <p:nvSpPr>
          <p:cNvPr id="41" name="Text 34"/>
          <p:cNvSpPr/>
          <p:nvPr/>
        </p:nvSpPr>
        <p:spPr>
          <a:xfrm>
            <a:off x="4690872" y="341071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Schedule</a:t>
            </a:r>
            <a:endParaRPr lang="en-US" sz="700" dirty="0"/>
          </a:p>
        </p:txBody>
      </p:sp>
      <p:sp>
        <p:nvSpPr>
          <p:cNvPr id="42" name="Text 35"/>
          <p:cNvSpPr/>
          <p:nvPr/>
        </p:nvSpPr>
        <p:spPr>
          <a:xfrm>
            <a:off x="4690872" y="388620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Customers</a:t>
            </a:r>
            <a:endParaRPr lang="en-US" sz="700" dirty="0"/>
          </a:p>
        </p:txBody>
      </p:sp>
      <p:sp>
        <p:nvSpPr>
          <p:cNvPr id="43" name="Text 36"/>
          <p:cNvSpPr/>
          <p:nvPr/>
        </p:nvSpPr>
        <p:spPr>
          <a:xfrm>
            <a:off x="5559552" y="1417320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Good morning, Stephen</a:t>
            </a:r>
            <a:endParaRPr lang="en-US" sz="900" dirty="0"/>
          </a:p>
        </p:txBody>
      </p:sp>
      <p:sp>
        <p:nvSpPr>
          <p:cNvPr id="44" name="Text 37"/>
          <p:cNvSpPr/>
          <p:nvPr/>
        </p:nvSpPr>
        <p:spPr>
          <a:xfrm>
            <a:off x="5559552" y="1664208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Monday, March 30 · Test Business</a:t>
            </a:r>
            <a:endParaRPr lang="en-US" sz="700" dirty="0"/>
          </a:p>
        </p:txBody>
      </p:sp>
      <p:sp>
        <p:nvSpPr>
          <p:cNvPr id="45" name="Shape 38"/>
          <p:cNvSpPr/>
          <p:nvPr/>
        </p:nvSpPr>
        <p:spPr>
          <a:xfrm>
            <a:off x="5559552" y="1920240"/>
            <a:ext cx="987552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6" name="Text 39"/>
          <p:cNvSpPr/>
          <p:nvPr/>
        </p:nvSpPr>
        <p:spPr>
          <a:xfrm>
            <a:off x="5614416" y="1956816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$12,400</a:t>
            </a:r>
            <a:endParaRPr lang="en-US" sz="1300" dirty="0"/>
          </a:p>
        </p:txBody>
      </p:sp>
      <p:sp>
        <p:nvSpPr>
          <p:cNvPr id="47" name="Text 40"/>
          <p:cNvSpPr/>
          <p:nvPr/>
        </p:nvSpPr>
        <p:spPr>
          <a:xfrm>
            <a:off x="5614416" y="225856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Revenue (30d)</a:t>
            </a:r>
            <a:endParaRPr lang="en-US" sz="700" dirty="0"/>
          </a:p>
        </p:txBody>
      </p:sp>
      <p:sp>
        <p:nvSpPr>
          <p:cNvPr id="48" name="Shape 41"/>
          <p:cNvSpPr/>
          <p:nvPr/>
        </p:nvSpPr>
        <p:spPr>
          <a:xfrm>
            <a:off x="6629400" y="1920240"/>
            <a:ext cx="987552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49" name="Text 42"/>
          <p:cNvSpPr/>
          <p:nvPr/>
        </p:nvSpPr>
        <p:spPr>
          <a:xfrm>
            <a:off x="6684264" y="1956816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94%</a:t>
            </a:r>
            <a:endParaRPr lang="en-US" sz="1300" dirty="0"/>
          </a:p>
        </p:txBody>
      </p:sp>
      <p:sp>
        <p:nvSpPr>
          <p:cNvPr id="50" name="Text 43"/>
          <p:cNvSpPr/>
          <p:nvPr/>
        </p:nvSpPr>
        <p:spPr>
          <a:xfrm>
            <a:off x="6684264" y="225856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AI Booking Rate</a:t>
            </a:r>
            <a:endParaRPr lang="en-US" sz="700" dirty="0"/>
          </a:p>
        </p:txBody>
      </p:sp>
      <p:sp>
        <p:nvSpPr>
          <p:cNvPr id="51" name="Shape 44"/>
          <p:cNvSpPr/>
          <p:nvPr/>
        </p:nvSpPr>
        <p:spPr>
          <a:xfrm>
            <a:off x="7699248" y="1920240"/>
            <a:ext cx="987552" cy="658368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52" name="Text 45"/>
          <p:cNvSpPr/>
          <p:nvPr/>
        </p:nvSpPr>
        <p:spPr>
          <a:xfrm>
            <a:off x="7754112" y="1956816"/>
            <a:ext cx="877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$0</a:t>
            </a:r>
            <a:endParaRPr lang="en-US" sz="1300" dirty="0"/>
          </a:p>
        </p:txBody>
      </p:sp>
      <p:sp>
        <p:nvSpPr>
          <p:cNvPr id="53" name="Text 46"/>
          <p:cNvSpPr/>
          <p:nvPr/>
        </p:nvSpPr>
        <p:spPr>
          <a:xfrm>
            <a:off x="7754112" y="2258568"/>
            <a:ext cx="877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Outstanding</a:t>
            </a:r>
            <a:endParaRPr lang="en-US" sz="700" dirty="0"/>
          </a:p>
        </p:txBody>
      </p:sp>
      <p:sp>
        <p:nvSpPr>
          <p:cNvPr id="54" name="Shape 47"/>
          <p:cNvSpPr/>
          <p:nvPr/>
        </p:nvSpPr>
        <p:spPr>
          <a:xfrm>
            <a:off x="5559552" y="2670048"/>
            <a:ext cx="3108960" cy="169164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55" name="Text 48"/>
          <p:cNvSpPr/>
          <p:nvPr/>
        </p:nvSpPr>
        <p:spPr>
          <a:xfrm>
            <a:off x="5623560" y="271576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Live Job Pipeline</a:t>
            </a:r>
            <a:endParaRPr lang="en-US" sz="850" dirty="0"/>
          </a:p>
        </p:txBody>
      </p:sp>
      <p:sp>
        <p:nvSpPr>
          <p:cNvPr id="56" name="Shape 49"/>
          <p:cNvSpPr/>
          <p:nvPr/>
        </p:nvSpPr>
        <p:spPr>
          <a:xfrm>
            <a:off x="5577840" y="3017520"/>
            <a:ext cx="960120" cy="1188720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57" name="Text 50"/>
          <p:cNvSpPr/>
          <p:nvPr/>
        </p:nvSpPr>
        <p:spPr>
          <a:xfrm>
            <a:off x="5623560" y="30632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Leads</a:t>
            </a:r>
            <a:endParaRPr lang="en-US" sz="700" dirty="0"/>
          </a:p>
        </p:txBody>
      </p:sp>
      <p:sp>
        <p:nvSpPr>
          <p:cNvPr id="58" name="Text 51"/>
          <p:cNvSpPr/>
          <p:nvPr/>
        </p:nvSpPr>
        <p:spPr>
          <a:xfrm>
            <a:off x="5623560" y="32918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2200" dirty="0"/>
          </a:p>
        </p:txBody>
      </p:sp>
      <p:sp>
        <p:nvSpPr>
          <p:cNvPr id="59" name="Shape 52"/>
          <p:cNvSpPr/>
          <p:nvPr/>
        </p:nvSpPr>
        <p:spPr>
          <a:xfrm>
            <a:off x="6611112" y="3017520"/>
            <a:ext cx="960120" cy="1188720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0" name="Text 53"/>
          <p:cNvSpPr/>
          <p:nvPr/>
        </p:nvSpPr>
        <p:spPr>
          <a:xfrm>
            <a:off x="6656832" y="30632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Active</a:t>
            </a:r>
            <a:endParaRPr lang="en-US" sz="700" dirty="0"/>
          </a:p>
        </p:txBody>
      </p:sp>
      <p:sp>
        <p:nvSpPr>
          <p:cNvPr id="61" name="Text 54"/>
          <p:cNvSpPr/>
          <p:nvPr/>
        </p:nvSpPr>
        <p:spPr>
          <a:xfrm>
            <a:off x="6656832" y="32918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2200" dirty="0"/>
          </a:p>
        </p:txBody>
      </p:sp>
      <p:sp>
        <p:nvSpPr>
          <p:cNvPr id="62" name="Shape 55"/>
          <p:cNvSpPr/>
          <p:nvPr/>
        </p:nvSpPr>
        <p:spPr>
          <a:xfrm>
            <a:off x="7644384" y="3017520"/>
            <a:ext cx="960120" cy="1188720"/>
          </a:xfrm>
          <a:prstGeom prst="rect">
            <a:avLst/>
          </a:prstGeom>
          <a:solidFill>
            <a:srgbClr val="172035"/>
          </a:solidFill>
          <a:ln w="12700">
            <a:solidFill>
              <a:srgbClr val="243352"/>
            </a:solidFill>
            <a:prstDash val="solid"/>
          </a:ln>
        </p:spPr>
      </p:sp>
      <p:sp>
        <p:nvSpPr>
          <p:cNvPr id="63" name="Text 56"/>
          <p:cNvSpPr/>
          <p:nvPr/>
        </p:nvSpPr>
        <p:spPr>
          <a:xfrm>
            <a:off x="7690104" y="3063240"/>
            <a:ext cx="868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94A3B8"/>
                </a:solidFill>
              </a:rPr>
              <a:t>Invoiced</a:t>
            </a:r>
            <a:endParaRPr lang="en-US" sz="700" dirty="0"/>
          </a:p>
        </p:txBody>
      </p:sp>
      <p:sp>
        <p:nvSpPr>
          <p:cNvPr id="64" name="Text 57"/>
          <p:cNvSpPr/>
          <p:nvPr/>
        </p:nvSpPr>
        <p:spPr>
          <a:xfrm>
            <a:off x="7690104" y="3291840"/>
            <a:ext cx="868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0D162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274320"/>
            <a:ext cx="256032" cy="25603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Titan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256032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Crew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463040" y="201168"/>
            <a:ext cx="7223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6B00"/>
                </a:solidFill>
              </a:rPr>
              <a:t>PRICING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502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Simple, transparent pricing.</a:t>
            </a:r>
            <a:endParaRPr lang="en-US" sz="2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 setup fees. Cancel any time.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457200" y="1554480"/>
            <a:ext cx="3840480" cy="3246120"/>
          </a:xfrm>
          <a:prstGeom prst="rect">
            <a:avLst/>
          </a:prstGeom>
          <a:solidFill>
            <a:srgbClr val="1A2744"/>
          </a:solidFill>
          <a:ln w="12700">
            <a:solidFill>
              <a:srgbClr val="243352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94360" y="1691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Basic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94360" y="21488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$399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2331720" y="2331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/mo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8163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per month, billed monthly</a:t>
            </a:r>
            <a:endParaRPr lang="en-US" sz="10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182112"/>
            <a:ext cx="182880" cy="1828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31638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6 AI agents included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3456432"/>
            <a:ext cx="182880" cy="1828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68680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Google Calendar integration</a:t>
            </a:r>
            <a:endParaRPr lang="en-US" sz="11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730752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8680" y="3712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QuickBooks Online sync</a:t>
            </a:r>
            <a:endParaRPr lang="en-US" sz="11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4005072"/>
            <a:ext cx="182880" cy="1828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6868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SMS &amp; email automations</a:t>
            </a:r>
            <a:endParaRPr lang="en-US" sz="11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4279392"/>
            <a:ext cx="182880" cy="1828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868680" y="4261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Daily 6am AI briefing</a:t>
            </a:r>
            <a:endParaRPr lang="en-US" sz="11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4553712"/>
            <a:ext cx="182880" cy="18288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868680" y="4535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Compliance &amp; audit log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4846320" y="1554480"/>
            <a:ext cx="3840480" cy="3246120"/>
          </a:xfrm>
          <a:prstGeom prst="rect">
            <a:avLst/>
          </a:prstGeom>
          <a:solidFill>
            <a:srgbClr val="172035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381000" dist="50800" dir="8100000">
              <a:srgbClr val="FF6B00">
                <a:alpha val="25000"/>
              </a:srgbClr>
            </a:outerShdw>
          </a:effectLst>
        </p:spPr>
      </p:sp>
      <p:sp>
        <p:nvSpPr>
          <p:cNvPr id="26" name="Shape 18"/>
          <p:cNvSpPr/>
          <p:nvPr/>
        </p:nvSpPr>
        <p:spPr>
          <a:xfrm>
            <a:off x="5806440" y="1325880"/>
            <a:ext cx="1920240" cy="347472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580644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</a:rPr>
              <a:t>MOST POPULAR</a:t>
            </a:r>
            <a:endParaRPr lang="en-US" sz="1000" dirty="0"/>
          </a:p>
        </p:txBody>
      </p:sp>
      <p:sp>
        <p:nvSpPr>
          <p:cNvPr id="28" name="Shape 20"/>
          <p:cNvSpPr/>
          <p:nvPr/>
        </p:nvSpPr>
        <p:spPr>
          <a:xfrm>
            <a:off x="4846320" y="1554480"/>
            <a:ext cx="3840480" cy="6400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4983480" y="169164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</a:t>
            </a:r>
            <a:endParaRPr lang="en-US" sz="2200" dirty="0"/>
          </a:p>
        </p:txBody>
      </p:sp>
      <p:sp>
        <p:nvSpPr>
          <p:cNvPr id="30" name="Text 22"/>
          <p:cNvSpPr/>
          <p:nvPr/>
        </p:nvSpPr>
        <p:spPr>
          <a:xfrm>
            <a:off x="4983480" y="2148840"/>
            <a:ext cx="18288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$799</a:t>
            </a:r>
            <a:endParaRPr lang="en-US" sz="4200" dirty="0"/>
          </a:p>
        </p:txBody>
      </p:sp>
      <p:sp>
        <p:nvSpPr>
          <p:cNvPr id="31" name="Text 23"/>
          <p:cNvSpPr/>
          <p:nvPr/>
        </p:nvSpPr>
        <p:spPr>
          <a:xfrm>
            <a:off x="6720840" y="23317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/mo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4983480" y="281635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per month, billed monthly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4983480" y="31638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00"/>
                </a:solidFill>
              </a:rPr>
              <a:t>Everything in Basic, plus:</a:t>
            </a:r>
            <a:endParaRPr lang="en-US" sz="110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456432"/>
            <a:ext cx="182880" cy="18288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257800" y="343814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Tech Dispatch AI (route optimization)</a:t>
            </a:r>
            <a:endParaRPr lang="en-US" sz="11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3480" y="3730752"/>
            <a:ext cx="182880" cy="18288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257800" y="37124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Multi-location support</a:t>
            </a:r>
            <a:endParaRPr lang="en-US" sz="110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83480" y="4005072"/>
            <a:ext cx="182880" cy="182880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5257800" y="39867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Priority support + onboarding call</a:t>
            </a:r>
            <a:endParaRPr lang="en-US" sz="1100" dirty="0"/>
          </a:p>
        </p:txBody>
      </p:sp>
      <p:pic>
        <p:nvPicPr>
          <p:cNvPr id="40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83480" y="4279392"/>
            <a:ext cx="182880" cy="182880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5257800" y="42611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Custom AI agent workflows</a:t>
            </a:r>
            <a:endParaRPr lang="en-US" sz="1100" dirty="0"/>
          </a:p>
        </p:txBody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983480" y="4553712"/>
            <a:ext cx="182880" cy="182880"/>
          </a:xfrm>
          <a:prstGeom prst="rect">
            <a:avLst/>
          </a:prstGeom>
        </p:spPr>
      </p:pic>
      <p:sp>
        <p:nvSpPr>
          <p:cNvPr id="43" name="Text 30"/>
          <p:cNvSpPr/>
          <p:nvPr/>
        </p:nvSpPr>
        <p:spPr>
          <a:xfrm>
            <a:off x="5257800" y="453542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API access for integrations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371600"/>
            <a:ext cx="4572000" cy="4572000"/>
          </a:xfrm>
          <a:prstGeom prst="ellipse">
            <a:avLst/>
          </a:prstGeom>
          <a:solidFill>
            <a:srgbClr val="FF6B00">
              <a:alpha val="12000"/>
            </a:srgbClr>
          </a:solidFill>
          <a:ln w="12700">
            <a:solidFill>
              <a:srgbClr val="0D1626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5000"/>
          </a:blip>
          <a:stretch>
            <a:fillRect/>
          </a:stretch>
        </p:blipFill>
        <p:spPr>
          <a:xfrm>
            <a:off x="5303520" y="274320"/>
            <a:ext cx="3657600" cy="36576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0" y="0"/>
            <a:ext cx="91440" cy="5143500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5029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Titan</a:t>
            </a:r>
            <a:pPr indent="0" marL="0">
              <a:buNone/>
            </a:pPr>
            <a:r>
              <a:rPr lang="en-US" sz="2200" b="1" dirty="0">
                <a:solidFill>
                  <a:srgbClr val="FF6B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Crew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109728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Your crew is ready</a:t>
            </a:r>
            <a:endParaRPr lang="en-US" sz="4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to go to work.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457200" y="28346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Deploy in 5 minutes. Cancel any time.</a:t>
            </a:r>
            <a:endParaRPr lang="en-US" sz="15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10128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94944" y="3291840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 credit card to start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566160"/>
            <a:ext cx="164592" cy="16459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94944" y="35478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Works in 5 minutes</a:t>
            </a:r>
            <a:endParaRPr lang="en-US" sz="11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22192"/>
            <a:ext cx="164592" cy="16459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4944" y="380390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Pays for itself in week 1</a:t>
            </a:r>
            <a:endParaRPr lang="en-US" sz="1100" dirty="0"/>
          </a:p>
        </p:txBody>
      </p:sp>
      <p:sp>
        <p:nvSpPr>
          <p:cNvPr id="14" name="Shape 8"/>
          <p:cNvSpPr/>
          <p:nvPr/>
        </p:nvSpPr>
        <p:spPr>
          <a:xfrm>
            <a:off x="457200" y="4114800"/>
            <a:ext cx="2926080" cy="566928"/>
          </a:xfrm>
          <a:prstGeom prst="rect">
            <a:avLst/>
          </a:prstGeom>
          <a:solidFill>
            <a:srgbClr val="FF6B00"/>
          </a:solidFill>
          <a:ln w="12700">
            <a:solidFill>
              <a:srgbClr val="FF6B00"/>
            </a:solidFill>
            <a:prstDash val="solid"/>
          </a:ln>
          <a:effectLst>
            <a:outerShdw sx="100000" sy="100000" kx="0" ky="0" algn="bl" rotWithShape="0" blurRad="381000" dist="50800" dir="8100000">
              <a:srgbClr val="FF6B00">
                <a:alpha val="25000"/>
              </a:srgbClr>
            </a:outerShdw>
          </a:effectLst>
        </p:spPr>
      </p:sp>
      <p:sp>
        <p:nvSpPr>
          <p:cNvPr id="15" name="Text 9"/>
          <p:cNvSpPr/>
          <p:nvPr/>
        </p:nvSpPr>
        <p:spPr>
          <a:xfrm>
            <a:off x="457200" y="411480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Get Started Now →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457200" y="4754880"/>
            <a:ext cx="822960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© 2026 TitanCrew  ·  rawdingcreatives@gmail.com  ·  thetitancrewai.vercel.app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TitanCrew — Product Demo</dc:title>
  <dc:subject>PptxGenJS Presentation</dc:subject>
  <dc:creator>TitanCrew</dc:creator>
  <cp:lastModifiedBy>TitanCrew</cp:lastModifiedBy>
  <cp:revision>1</cp:revision>
  <dcterms:created xsi:type="dcterms:W3CDTF">2026-03-30T13:31:14Z</dcterms:created>
  <dcterms:modified xsi:type="dcterms:W3CDTF">2026-03-30T13:31:14Z</dcterms:modified>
</cp:coreProperties>
</file>